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xref_6_149x1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"/>
            <a:ext cx="782492" cy="777240"/>
          </a:xfrm>
          <a:prstGeom prst="rect">
            <a:avLst/>
          </a:prstGeom>
        </p:spPr>
      </p:pic>
      <p:pic>
        <p:nvPicPr>
          <p:cNvPr id="3" name="Picture 2" descr="img_xref_11_219x219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182880"/>
            <a:ext cx="77724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463040" y="274320"/>
            <a:ext cx="9235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i="1" b="1">
                <a:solidFill>
                  <a:srgbClr val="0F2557"/>
                </a:solidFill>
                <a:latin typeface="Times New Roman"/>
              </a:defRPr>
            </a:pPr>
            <a:r>
              <a:t>Project Work Progress Presentation - Review-2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F2557"/>
                </a:solidFill>
                <a:latin typeface="Times New Roman"/>
              </a:defRPr>
            </a:pPr>
            <a:r>
              <a:t>SECURE AES-128 IMPLEMENTATION WITH</a:t>
            </a:r>
          </a:p>
          <a:p>
            <a:pPr algn="ctr">
              <a:defRPr sz="2800" b="1">
                <a:solidFill>
                  <a:srgbClr val="0F2557"/>
                </a:solidFill>
                <a:latin typeface="Times New Roman"/>
              </a:defRPr>
            </a:pPr>
            <a:r>
              <a:t>SIDE-CHANNEL ATTACK RESISTANCE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788920"/>
            <a:ext cx="11460175" cy="3703320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Times New Roman"/>
              </a:defRPr>
            </a:pPr>
            <a:r>
              <a:t>Branch: EL-VLSI (Electronics Engineering - VLSI Design and Technology)</a:t>
            </a:r>
          </a:p>
          <a:p>
            <a:pPr algn="ctr">
              <a:defRPr sz="1400" b="1">
                <a:solidFill>
                  <a:srgbClr val="FFFFFF"/>
                </a:solidFill>
                <a:latin typeface="Times New Roman"/>
              </a:defRPr>
            </a:pPr>
            <a:r>
              <a:t>Group No.: V-1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45720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FFFFFF"/>
                </a:solidFill>
                <a:latin typeface="Times New Roman"/>
              </a:defRPr>
            </a:pPr>
            <a:r>
              <a:t>Under the Mentorship of:</a:t>
            </a:r>
          </a:p>
          <a:p>
            <a:pPr>
              <a:defRPr sz="1600" b="1">
                <a:solidFill>
                  <a:srgbClr val="FFFFFF"/>
                </a:solidFill>
                <a:latin typeface="Times New Roman"/>
              </a:defRPr>
            </a:pPr>
            <a:r>
              <a:t>Dr. Parveen Kumar</a:t>
            </a:r>
          </a:p>
          <a:p>
            <a:pPr>
              <a:defRPr sz="1300">
                <a:solidFill>
                  <a:srgbClr val="FFFFFF"/>
                </a:solidFill>
                <a:latin typeface="Times New Roman"/>
              </a:defRPr>
            </a:pPr>
            <a:r>
              <a:t>Assistant Professor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657600"/>
            <a:ext cx="50292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FFFFFF"/>
                </a:solidFill>
                <a:latin typeface="Times New Roman"/>
              </a:defRPr>
            </a:pPr>
            <a:r>
              <a:t>Presented By:</a:t>
            </a:r>
          </a:p>
          <a:p>
            <a:pPr>
              <a:defRPr sz="1300">
                <a:solidFill>
                  <a:srgbClr val="FFFFFF"/>
                </a:solidFill>
                <a:latin typeface="Times New Roman"/>
              </a:defRPr>
            </a:pPr>
            <a:r>
              <a:t>Ish Bhati (Roll No. 2300971730019)</a:t>
            </a:r>
          </a:p>
          <a:p>
            <a:pPr>
              <a:defRPr sz="1300">
                <a:solidFill>
                  <a:srgbClr val="FFFFFF"/>
                </a:solidFill>
                <a:latin typeface="Times New Roman"/>
              </a:defRPr>
            </a:pPr>
            <a:r>
              <a:t>Ishita Chaudhary (Roll No. 2300971730020)</a:t>
            </a:r>
          </a:p>
          <a:p>
            <a:pPr>
              <a:defRPr sz="1300">
                <a:solidFill>
                  <a:srgbClr val="FFFFFF"/>
                </a:solidFill>
                <a:latin typeface="Times New Roman"/>
              </a:defRPr>
            </a:pPr>
            <a:r>
              <a:t>Rishabh Verma (Roll No. 2300971730029)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2356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Times New Roman"/>
              </a:defRPr>
            </a:pPr>
            <a:r>
              <a:t>Department of VLSI and Communication Technology</a:t>
            </a:r>
          </a:p>
          <a:p>
            <a:pPr algn="ctr">
              <a:defRPr sz="1300">
                <a:solidFill>
                  <a:srgbClr val="FFFFFF"/>
                </a:solidFill>
                <a:latin typeface="Times New Roman"/>
              </a:defRPr>
            </a:pPr>
            <a:r>
              <a:t>Galgotias College of Engineering and Technology, Gr. Noida(U.P.)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xref_6_149x1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690434" cy="685800"/>
          </a:xfrm>
          <a:prstGeom prst="rect">
            <a:avLst/>
          </a:prstGeom>
        </p:spPr>
      </p:pic>
      <p:pic>
        <p:nvPicPr>
          <p:cNvPr id="3" name="Picture 2" descr="img_xref_11_219x219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182880"/>
            <a:ext cx="685800" cy="685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88720" y="438912"/>
            <a:ext cx="3200400" cy="54864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34840" y="438912"/>
            <a:ext cx="347472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55279" y="438912"/>
            <a:ext cx="3017520" cy="54864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Department of VLSI and Communication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777240"/>
            <a:ext cx="1109441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F2557"/>
                </a:solidFill>
                <a:latin typeface="Times New Roman"/>
              </a:defRPr>
            </a:pPr>
            <a:r>
              <a:t>TITLE: Secure AES-128 Implementation with Side-Channel Attack Resistance</a:t>
            </a:r>
          </a:p>
          <a:p>
            <a:pPr>
              <a:spcAft>
                <a:spcPts val="1800"/>
              </a:spcAft>
              <a:defRPr sz="1600" b="1">
                <a:solidFill>
                  <a:srgbClr val="0F2557"/>
                </a:solidFill>
                <a:latin typeface="Times New Roman"/>
              </a:defRPr>
            </a:pPr>
            <a:r>
              <a:t>SDG GOALS (2-3 only):</a:t>
            </a:r>
          </a:p>
          <a:p>
            <a:pPr>
              <a:spcAft>
                <a:spcPts val="1600"/>
              </a:spcAft>
            </a:pPr>
            <a:r>
              <a:rPr sz="1300" b="1">
                <a:solidFill>
                  <a:srgbClr val="1D4ED8"/>
                </a:solidFill>
                <a:latin typeface="Times New Roman"/>
              </a:rPr>
              <a:t>• SDG 9: Industry, Innovation and Infrastructure: Target 9.5 &amp; 9.c: </a:t>
            </a:r>
            <a:r>
              <a:rPr sz="1250">
                <a:solidFill>
                  <a:srgbClr val="1F2937"/>
                </a:solidFill>
                <a:latin typeface="Calibri"/>
              </a:rPr>
              <a:t>Fosters technological innovation and builds resilient digital infrastructure. Securing cryptographic hardware against side-channel attacks protects smart grids, critical cyber-physical systems, and IoT infrastructure from physical tampering and eavesdropping.</a:t>
            </a:r>
          </a:p>
          <a:p>
            <a:pPr>
              <a:spcAft>
                <a:spcPts val="1600"/>
              </a:spcAft>
            </a:pPr>
            <a:r>
              <a:rPr sz="1300" b="1">
                <a:solidFill>
                  <a:srgbClr val="1D4ED8"/>
                </a:solidFill>
                <a:latin typeface="Times New Roman"/>
              </a:rPr>
              <a:t>• SDG 16: Peace, Justice and Strong Institutions: Target 16.10: </a:t>
            </a:r>
            <a:r>
              <a:rPr sz="1250">
                <a:solidFill>
                  <a:srgbClr val="1F2937"/>
                </a:solidFill>
                <a:latin typeface="Calibri"/>
              </a:rPr>
              <a:t>Safeguards data privacy, institutional cybersecurity, and public trust. Prevents physical secret-key extraction from embedded cryptographic modules, securing sensitive governmental, industrial, and financial communication channels.</a:t>
            </a:r>
          </a:p>
          <a:p>
            <a:pPr>
              <a:spcAft>
                <a:spcPts val="1600"/>
              </a:spcAft>
            </a:pPr>
            <a:r>
              <a:rPr sz="1300" b="1">
                <a:solidFill>
                  <a:srgbClr val="1D4ED8"/>
                </a:solidFill>
                <a:latin typeface="Times New Roman"/>
              </a:rPr>
              <a:t>• SDG 12: Responsible Consumption and Production (Secondary): Target 12.2 &amp; 12.a: </a:t>
            </a:r>
            <a:r>
              <a:rPr sz="1250">
                <a:solidFill>
                  <a:srgbClr val="1F2937"/>
                </a:solidFill>
                <a:latin typeface="Calibri"/>
              </a:rPr>
              <a:t>Promotes silicon resource efficiency by optimizing the trade-off between side-channel security countermeasures and hardware overhead (minimizing LUT/FF area inflation and power dissipation).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xref_6_149x1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690434" cy="685800"/>
          </a:xfrm>
          <a:prstGeom prst="rect">
            <a:avLst/>
          </a:prstGeom>
        </p:spPr>
      </p:pic>
      <p:pic>
        <p:nvPicPr>
          <p:cNvPr id="3" name="Picture 2" descr="img_xref_11_219x219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182880"/>
            <a:ext cx="685800" cy="685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88720" y="438912"/>
            <a:ext cx="3200400" cy="54864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34840" y="438912"/>
            <a:ext cx="347472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55279" y="438912"/>
            <a:ext cx="3017520" cy="54864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Department of VLSI and Communication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777240"/>
            <a:ext cx="1109441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F2557"/>
                </a:solidFill>
                <a:latin typeface="Times New Roman"/>
              </a:defRPr>
            </a:pPr>
            <a:r>
              <a:t>TITLE: Secure AES-128 Implementation with Side-Channel Attack Resistance</a:t>
            </a:r>
          </a:p>
          <a:p>
            <a:pPr>
              <a:spcAft>
                <a:spcPts val="800"/>
              </a:spcAft>
              <a:defRPr sz="1500" b="1">
                <a:solidFill>
                  <a:srgbClr val="0F2557"/>
                </a:solidFill>
                <a:latin typeface="Times New Roman"/>
              </a:defRPr>
            </a:pPr>
            <a:r>
              <a:t>PROGRAM OUTCOMES (POs) MAPPED: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D4ED8"/>
                </a:solidFill>
                <a:latin typeface="Times New Roman"/>
              </a:rPr>
              <a:t>• PO1 (Engineering Knowledge): </a:t>
            </a:r>
            <a:r>
              <a:rPr sz="1200">
                <a:solidFill>
                  <a:srgbClr val="1F2937"/>
                </a:solidFill>
                <a:latin typeface="Calibri"/>
              </a:rPr>
              <a:t>Applied Galois field GF(2^8) arithmetic, cryptography, and digital VLSI design principles to model the AES-128 core.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D4ED8"/>
                </a:solidFill>
                <a:latin typeface="Times New Roman"/>
              </a:rPr>
              <a:t>• PO3 (Design/Development): </a:t>
            </a:r>
            <a:r>
              <a:rPr sz="1200">
                <a:solidFill>
                  <a:srgbClr val="1F2937"/>
                </a:solidFill>
                <a:latin typeface="Calibri"/>
              </a:rPr>
              <a:t>Engineered a first-order masked AES datapath with a protected S-box and mask-refreshing logic balancing security and area overhead.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D4ED8"/>
                </a:solidFill>
                <a:latin typeface="Times New Roman"/>
              </a:rPr>
              <a:t>• PO5 (Modern Tool Usage): </a:t>
            </a:r>
            <a:r>
              <a:rPr sz="1200">
                <a:solidFill>
                  <a:srgbClr val="1F2937"/>
                </a:solidFill>
                <a:latin typeface="Calibri"/>
              </a:rPr>
              <a:t>Employed industry-standard EDA tools (AMD-Xilinx Vivado, Verilog HDL) for RTL modeling, simulation, and synthesis.</a:t>
            </a:r>
          </a:p>
          <a:p>
            <a:br/>
            <a:pPr>
              <a:spcAft>
                <a:spcPts val="800"/>
              </a:spcAft>
              <a:defRPr sz="1500" b="1">
                <a:solidFill>
                  <a:srgbClr val="0F2557"/>
                </a:solidFill>
                <a:latin typeface="Times New Roman"/>
              </a:defRPr>
            </a:pPr>
            <a:r>
              <a:t>PROGRAM SPECIFIC OUTCOMES (PSOs) MAPPED: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D4ED8"/>
                </a:solidFill>
                <a:latin typeface="Times New Roman"/>
              </a:rPr>
              <a:t>• PSO1 (VLSI System Design): </a:t>
            </a:r>
            <a:r>
              <a:rPr sz="1200">
                <a:solidFill>
                  <a:srgbClr val="1F2937"/>
                </a:solidFill>
                <a:latin typeface="Calibri"/>
              </a:rPr>
              <a:t>Ability to design and simulate complex hardware cryptographic subsystems using synthesizable Verilog HDL.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D4ED8"/>
                </a:solidFill>
                <a:latin typeface="Times New Roman"/>
              </a:rPr>
              <a:t>• PSO2 (EDA Tools &amp; Verification): </a:t>
            </a:r>
            <a:r>
              <a:rPr sz="1200">
                <a:solidFill>
                  <a:srgbClr val="1F2937"/>
                </a:solidFill>
                <a:latin typeface="Calibri"/>
              </a:rPr>
              <a:t>Proficiency in FPGA synthesis, static timing closure, and hardware benchmarking.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xref_6_149x1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690434" cy="685800"/>
          </a:xfrm>
          <a:prstGeom prst="rect">
            <a:avLst/>
          </a:prstGeom>
        </p:spPr>
      </p:pic>
      <p:pic>
        <p:nvPicPr>
          <p:cNvPr id="3" name="Picture 2" descr="img_xref_11_219x219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182880"/>
            <a:ext cx="685800" cy="685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88720" y="438912"/>
            <a:ext cx="3200400" cy="54864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34840" y="438912"/>
            <a:ext cx="347472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55279" y="438912"/>
            <a:ext cx="3017520" cy="54864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Department of VLSI and Communication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86868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F2557"/>
                </a:solidFill>
                <a:latin typeface="Times New Roman"/>
              </a:defRPr>
            </a:pPr>
            <a:r>
              <a:t>TABLE OF CONTENTS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2557"/>
                </a:solidFill>
                <a:latin typeface="Times New Roman"/>
              </a:rPr>
              <a:t>1. Introduction</a:t>
            </a:r>
          </a:p>
          <a:p>
            <a:pPr>
              <a:spcAft>
                <a:spcPts val="1800"/>
              </a:spcAft>
            </a:pPr>
            <a:r>
              <a:rPr sz="1150">
                <a:solidFill>
                  <a:srgbClr val="6B7280"/>
                </a:solidFill>
                <a:latin typeface="Calibri"/>
              </a:rPr>
              <a:t>Cryptographic foundation, physical power leakage &amp; Boolean masking.</a:t>
            </a:r>
          </a:p>
          <a:p>
            <a:r>
              <a:rPr sz="1500" b="1">
                <a:solidFill>
                  <a:srgbClr val="0F2557"/>
                </a:solidFill>
                <a:latin typeface="Times New Roman"/>
              </a:rPr>
              <a:t>2. Objectives</a:t>
            </a:r>
          </a:p>
          <a:p>
            <a:pPr>
              <a:spcAft>
                <a:spcPts val="1800"/>
              </a:spcAft>
            </a:pPr>
            <a:r>
              <a:rPr sz="1150">
                <a:solidFill>
                  <a:srgbClr val="6B7280"/>
                </a:solidFill>
                <a:latin typeface="Calibri"/>
              </a:rPr>
              <a:t>5 core measurable engineering and verification milestones.</a:t>
            </a:r>
          </a:p>
          <a:p>
            <a:r>
              <a:rPr sz="1500" b="1">
                <a:solidFill>
                  <a:srgbClr val="0F2557"/>
                </a:solidFill>
                <a:latin typeface="Times New Roman"/>
              </a:rPr>
              <a:t>3. Proposed Improvement Over Existing Works</a:t>
            </a:r>
          </a:p>
          <a:p>
            <a:pPr>
              <a:spcAft>
                <a:spcPts val="1800"/>
              </a:spcAft>
            </a:pPr>
            <a:r>
              <a:rPr sz="1150">
                <a:solidFill>
                  <a:srgbClr val="6B7280"/>
                </a:solidFill>
                <a:latin typeface="Calibri"/>
              </a:rPr>
              <a:t>Comparative benchmark against IEEE JSSC Base Paper.</a:t>
            </a:r>
          </a:p>
          <a:p>
            <a:r>
              <a:rPr sz="1500" b="1">
                <a:solidFill>
                  <a:srgbClr val="0F2557"/>
                </a:solidFill>
                <a:latin typeface="Times New Roman"/>
              </a:rPr>
              <a:t>4. Methodology/ Flowchart</a:t>
            </a:r>
          </a:p>
          <a:p>
            <a:pPr>
              <a:spcAft>
                <a:spcPts val="1800"/>
              </a:spcAft>
            </a:pPr>
            <a:r>
              <a:rPr sz="1150">
                <a:solidFill>
                  <a:srgbClr val="6B7280"/>
                </a:solidFill>
                <a:latin typeface="Calibri"/>
              </a:rPr>
              <a:t>Two-share masked datapath architecture &amp; 4-stage EDA engineering 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69164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2557"/>
                </a:solidFill>
                <a:latin typeface="Times New Roman"/>
              </a:rPr>
              <a:t>5. Work Done till Date and Results Obtained</a:t>
            </a:r>
          </a:p>
          <a:p>
            <a:pPr>
              <a:spcAft>
                <a:spcPts val="1800"/>
              </a:spcAft>
            </a:pPr>
            <a:r>
              <a:rPr sz="1150">
                <a:solidFill>
                  <a:srgbClr val="6B7280"/>
                </a:solidFill>
                <a:latin typeface="Calibri"/>
              </a:rPr>
              <a:t>NIST verification, Vivado Artix-7 synthesis tables &amp; timing waveforms.</a:t>
            </a:r>
          </a:p>
          <a:p>
            <a:r>
              <a:rPr sz="1500" b="1">
                <a:solidFill>
                  <a:srgbClr val="0F2557"/>
                </a:solidFill>
                <a:latin typeface="Times New Roman"/>
              </a:rPr>
              <a:t>6. Project Implementation Budget Analysis</a:t>
            </a:r>
          </a:p>
          <a:p>
            <a:pPr>
              <a:spcAft>
                <a:spcPts val="1800"/>
              </a:spcAft>
            </a:pPr>
            <a:r>
              <a:rPr sz="1150">
                <a:solidFill>
                  <a:srgbClr val="6B7280"/>
                </a:solidFill>
                <a:latin typeface="Calibri"/>
              </a:rPr>
              <a:t>Cost breakdown table of academic EDA software vs. proposed prototyping.</a:t>
            </a:r>
          </a:p>
          <a:p>
            <a:r>
              <a:rPr sz="1500" b="1">
                <a:solidFill>
                  <a:srgbClr val="0F2557"/>
                </a:solidFill>
                <a:latin typeface="Times New Roman"/>
              </a:rPr>
              <a:t>7. Next Month Plan of Work</a:t>
            </a:r>
          </a:p>
          <a:p>
            <a:pPr>
              <a:spcAft>
                <a:spcPts val="1800"/>
              </a:spcAft>
            </a:pPr>
            <a:r>
              <a:rPr sz="1150">
                <a:solidFill>
                  <a:srgbClr val="6B7280"/>
                </a:solidFill>
                <a:latin typeface="Calibri"/>
              </a:rPr>
              <a:t>Action plan covering on-chip PRNG integration, Canright S-Box &amp; TVLA.</a:t>
            </a:r>
          </a:p>
          <a:p>
            <a:r>
              <a:rPr sz="1500" b="1">
                <a:solidFill>
                  <a:srgbClr val="0F2557"/>
                </a:solidFill>
                <a:latin typeface="Times New Roman"/>
              </a:rPr>
              <a:t>8. References</a:t>
            </a:r>
          </a:p>
          <a:p>
            <a:pPr>
              <a:spcAft>
                <a:spcPts val="1800"/>
              </a:spcAft>
            </a:pPr>
            <a:r>
              <a:rPr sz="1150">
                <a:solidFill>
                  <a:srgbClr val="6B7280"/>
                </a:solidFill>
                <a:latin typeface="Calibri"/>
              </a:rPr>
              <a:t>Formal IEEE bibliographical citations backing the project.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xref_6_149x1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690434" cy="685800"/>
          </a:xfrm>
          <a:prstGeom prst="rect">
            <a:avLst/>
          </a:prstGeom>
        </p:spPr>
      </p:pic>
      <p:pic>
        <p:nvPicPr>
          <p:cNvPr id="3" name="Picture 2" descr="img_xref_11_219x219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182880"/>
            <a:ext cx="685800" cy="685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88720" y="438912"/>
            <a:ext cx="3200400" cy="54864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34840" y="438912"/>
            <a:ext cx="347472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55279" y="438912"/>
            <a:ext cx="3017520" cy="54864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68680"/>
            <a:ext cx="11460175" cy="594360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1.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Department of VLSI and Communication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110944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0F2557"/>
                </a:solidFill>
                <a:latin typeface="Times New Roman"/>
              </a:rPr>
              <a:t>• Cryptographic Foundation (AES-128):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  <a:latin typeface="Calibri"/>
              </a:rPr>
              <a:t>– Advanced Encryption Standard (AES) is a symmetric block cipher standardized by NIST (FIPS 197).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  <a:latin typeface="Calibri"/>
              </a:rPr>
              <a:t>– Operates on 128-bit data blocks using a 128-bit key across 10 algorithmic rounds (SubBytes, ShiftRows, MixColumns, AddRoundKey).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1F2937"/>
                </a:solidFill>
                <a:latin typeface="Calibri"/>
              </a:rPr>
              <a:t>– Widely deployed for data protection in embedded systems, smart cards, IoT nodes, and telecommunications.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F2557"/>
                </a:solidFill>
                <a:latin typeface="Times New Roman"/>
              </a:rPr>
              <a:t>• Physical Hardware Vulnerability (Side-Channel Leakage):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  <a:latin typeface="Calibri"/>
              </a:rPr>
              <a:t>– While mathematically secure against cryptanalysis, CMOS implementations leak data-dependent power during switching.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1F2937"/>
                </a:solidFill>
                <a:latin typeface="Calibri"/>
              </a:rPr>
              <a:t>– Attackers exploit power consumption variations via Differential Power Analysis (DPA) and Correlation Power Analysis (CPA) to extract the secret key.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F2557"/>
                </a:solidFill>
                <a:latin typeface="Times New Roman"/>
              </a:rPr>
              <a:t>• Proposed Countermeasure (First-Order Boolean Masking):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F2937"/>
                </a:solidFill>
                <a:latin typeface="Calibri"/>
              </a:rPr>
              <a:t>– Splits sensitive intermediate variables into random shares (X' = X ⊕ M) to decorrelate physical power consumption from secret data.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1F2937"/>
                </a:solidFill>
                <a:latin typeface="Calibri"/>
              </a:rPr>
              <a:t>– Integrates a protected non-linear S-box and dynamic mask-refreshing logic to eliminate first-order leakage.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xref_6_149x1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690434" cy="685800"/>
          </a:xfrm>
          <a:prstGeom prst="rect">
            <a:avLst/>
          </a:prstGeom>
        </p:spPr>
      </p:pic>
      <p:pic>
        <p:nvPicPr>
          <p:cNvPr id="3" name="Picture 2" descr="img_xref_11_219x219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182880"/>
            <a:ext cx="685800" cy="685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88720" y="438912"/>
            <a:ext cx="3200400" cy="54864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34840" y="438912"/>
            <a:ext cx="347472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55279" y="438912"/>
            <a:ext cx="3017520" cy="54864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68680"/>
            <a:ext cx="11460175" cy="594360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2. OBJECTIVES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Department of VLSI and Communication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11094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0F2557"/>
                </a:solidFill>
                <a:latin typeface="Times New Roman"/>
              </a:rPr>
              <a:t>• 1. Design &amp; Simulation of Baseline AES-128 RTL Core: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1F2937"/>
                </a:solidFill>
                <a:latin typeface="Calibri"/>
              </a:rPr>
              <a:t>– Develop a synthesizable 128-bit AES encryption core in Verilog HDL and functionally verify it against NIST FIPS 197 test vectors.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0F2557"/>
                </a:solidFill>
                <a:latin typeface="Times New Roman"/>
              </a:rPr>
              <a:t>• 2. Implementation of First-Order Boolean Masking Scheme: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1F2937"/>
                </a:solidFill>
                <a:latin typeface="Calibri"/>
              </a:rPr>
              <a:t>– Implement a 2-share Boolean masking architecture (X' = X ⊕ M) across the datapath to decorrelate switching power from secret data.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0F2557"/>
                </a:solidFill>
                <a:latin typeface="Times New Roman"/>
              </a:rPr>
              <a:t>• 3. Development of Masked S-Box &amp; Dynamic Mask-Refresh Mechanism: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1F2937"/>
                </a:solidFill>
                <a:latin typeface="Calibri"/>
              </a:rPr>
              <a:t>– Design a protected S-box in composite field GF(((2^2)^2)^2) with mask-refresh logic to prevent glitch-induced first-order leakage.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0F2557"/>
                </a:solidFill>
                <a:latin typeface="Times New Roman"/>
              </a:rPr>
              <a:t>• 4. Synthesis, Resource Utilization &amp; Timing Benchmarking: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1F2937"/>
                </a:solidFill>
                <a:latin typeface="Calibri"/>
              </a:rPr>
              <a:t>– Synthesize both baseline and masked designs targeting FPGA in AMD-Xilinx Vivado, comparing LUTs, FFs, BRAMs, Fmax, and power.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0F2557"/>
                </a:solidFill>
                <a:latin typeface="Times New Roman"/>
              </a:rPr>
              <a:t>• 5. Side-Channel Leakage Assessment &amp; Security Validation: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1F2937"/>
                </a:solidFill>
                <a:latin typeface="Calibri"/>
              </a:rPr>
              <a:t>– Evaluate side-channel resistance using power-trace analysis and standard Welch's t-test (TVLA) to verify that |t| &lt; 4.5.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xref_6_149x1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690434" cy="685800"/>
          </a:xfrm>
          <a:prstGeom prst="rect">
            <a:avLst/>
          </a:prstGeom>
        </p:spPr>
      </p:pic>
      <p:pic>
        <p:nvPicPr>
          <p:cNvPr id="3" name="Picture 2" descr="img_xref_11_219x219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182880"/>
            <a:ext cx="685800" cy="685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88720" y="438912"/>
            <a:ext cx="3200400" cy="54864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34840" y="438912"/>
            <a:ext cx="347472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55279" y="438912"/>
            <a:ext cx="3017520" cy="54864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68680"/>
            <a:ext cx="11460175" cy="594360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3. PROPOSED IMPROVEMENT OVER EXISTING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Department of VLSI and Communication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645920"/>
          <a:ext cx="1146017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011680"/>
                <a:gridCol w="2103120"/>
                <a:gridCol w="2103120"/>
                <a:gridCol w="2377440"/>
                <a:gridCol w="2224735"/>
              </a:tblGrid>
              <a:tr h="1493520">
                <a:tc>
                  <a:txBody>
                    <a:bodyPr wrap="square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S.</a:t>
                      </a:r>
                      <a:br/>
                      <a:r>
                        <a:t>No</a:t>
                      </a:r>
                    </a:p>
                  </a:txBody>
                  <a:tcPr>
                    <a:solidFill>
                      <a:srgbClr val="0F2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Base Paper (s)</a:t>
                      </a:r>
                      <a:br/>
                      <a:r>
                        <a:t>Publication Details</a:t>
                      </a:r>
                    </a:p>
                  </a:txBody>
                  <a:tcPr>
                    <a:solidFill>
                      <a:srgbClr val="0F2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Base Paper (s) Major</a:t>
                      </a:r>
                      <a:br/>
                      <a:r>
                        <a:t>Findings</a:t>
                      </a:r>
                    </a:p>
                  </a:txBody>
                  <a:tcPr>
                    <a:solidFill>
                      <a:srgbClr val="0F2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Base Paper (s)</a:t>
                      </a:r>
                      <a:br/>
                      <a:r>
                        <a:t>Limitations</a:t>
                      </a:r>
                    </a:p>
                  </a:txBody>
                  <a:tcPr>
                    <a:solidFill>
                      <a:srgbClr val="0F2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Proposed</a:t>
                      </a:r>
                      <a:br/>
                      <a:r>
                        <a:t>Improvement over</a:t>
                      </a:r>
                      <a:br/>
                      <a:r>
                        <a:t>Existing Works</a:t>
                      </a:r>
                    </a:p>
                  </a:txBody>
                  <a:tcPr>
                    <a:solidFill>
                      <a:srgbClr val="0F2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Expected Benefits</a:t>
                      </a:r>
                    </a:p>
                  </a:txBody>
                  <a:tcPr>
                    <a:solidFill>
                      <a:srgbClr val="0F2557"/>
                    </a:solidFill>
                  </a:tcPr>
                </a:tc>
              </a:tr>
              <a:tr h="1493520">
                <a:tc>
                  <a:txBody>
                    <a:bodyPr wrap="square"/>
                    <a:lstStyle/>
                    <a:p>
                      <a:pPr algn="ctr">
                        <a:defRPr sz="950" b="1">
                          <a:solidFill>
                            <a:srgbClr val="1F2937"/>
                          </a:solidFill>
                          <a:latin typeface="Times New Roman"/>
                        </a:defRPr>
                      </a:pPr>
                      <a:r>
                        <a:t>1.</a:t>
                      </a:r>
                      <a:br/>
                      <a:r>
                        <a:t>[Base</a:t>
                      </a:r>
                      <a:br/>
                      <a:r>
                        <a:t>Paper]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R. Kumar, V. B. Suresh, S. Taneja, et al. (2023)</a:t>
                      </a:r>
                      <a:br/>
                      <a:r>
                        <a:t>IEEE Journal of Solid-State Circuits (JSSC)</a:t>
                      </a:r>
                      <a:br/>
                      <a:r>
                        <a:t>'A 7-Gbps SCA-Resistant Multiplicative-Masked AES Engine in Intel 4 CMOS'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• Multiplicative-masked AES with dual-rail zero-value detection (ZVD).</a:t>
                      </a:r>
                      <a:br/>
                      <a:r>
                        <a:t>• Reported large improvements in measured minimum-time-to-disclosure against power and EM attacks.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• Intel 4 custom silicon and specialized dual-rail implementation are not directly representative of an academic FPGA RTL flow.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• Implemented a synthesizable 1st-order Boolean masked datapath (X' = X ⊕ M) in Verilog HDL.</a:t>
                      </a:r>
                      <a:br/>
                      <a:r>
                        <a:t>• Mapped cleanly to standard FPGA logic cells.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• 100% portable across commercial FPGAs (Artix-7).</a:t>
                      </a:r>
                      <a:br/>
                      <a:r>
                        <a:t>• Clean 100 MHz static timing closure (+1.54 ns slack), zero BRAM/DSP usage, and only 42.5% LUT overhead.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1493520">
                <a:tc>
                  <a:txBody>
                    <a:bodyPr wrap="square"/>
                    <a:lstStyle/>
                    <a:p>
                      <a:pPr algn="ctr">
                        <a:defRPr sz="950" b="1">
                          <a:solidFill>
                            <a:srgbClr val="1F2937"/>
                          </a:solidFill>
                          <a:latin typeface="Times New Roman"/>
                        </a:defRPr>
                      </a:pPr>
                      <a:r>
                        <a:t>2.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D. Canright &amp; L. Batina (2008) / F. Regazzoni et al. (2011)</a:t>
                      </a:r>
                      <a:br/>
                      <a:r>
                        <a:t>CARDIS / ACNS (Springer LNCS)</a:t>
                      </a:r>
                      <a:br/>
                      <a:r>
                        <a:t>'FPGA Implementations of Masked AES: A Comparative Evaluation'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• Evaluated composite-field masked S-boxes on FPGA.</a:t>
                      </a:r>
                      <a:br/>
                      <a:r>
                        <a:t>• Highlighted trade-offs between slice utilization (LUTs/FFs), throughput, and SCA resistance.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• Unpipelined combinatorial inversion structures exhibit dynamic glitches and routing imbalances, causing transient 1st-order leakage.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• Iterative 10-round architecture with registered stage boundaries and synchronized two-share linear transformations.</a:t>
                      </a:r>
                      <a:br/>
                      <a:r>
                        <a:t>• Recombination isolated to final output register.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defRPr sz="95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• Suppresses inter-round glitch propagation.</a:t>
                      </a:r>
                      <a:br/>
                      <a:r>
                        <a:t>• Stable 11-cycle execution latency with line-rate throughput (1.37 Gbps @ 118 MHz) and verifiable security.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xref_6_149x1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690434" cy="685800"/>
          </a:xfrm>
          <a:prstGeom prst="rect">
            <a:avLst/>
          </a:prstGeom>
        </p:spPr>
      </p:pic>
      <p:pic>
        <p:nvPicPr>
          <p:cNvPr id="3" name="Picture 2" descr="img_xref_11_219x219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182880"/>
            <a:ext cx="685800" cy="685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88720" y="438912"/>
            <a:ext cx="3200400" cy="54864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34840" y="438912"/>
            <a:ext cx="347472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55279" y="438912"/>
            <a:ext cx="3017520" cy="54864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68680"/>
            <a:ext cx="11460175" cy="594360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4. METHODOLOGY/ FLOW CHART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Department of VLSI and Communication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8</a:t>
            </a:r>
          </a:p>
        </p:txBody>
      </p:sp>
      <p:pic>
        <p:nvPicPr>
          <p:cNvPr id="10" name="Picture 9" descr="fig_arch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" y="1691640"/>
            <a:ext cx="10515600" cy="18745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7590" y="361188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2557"/>
                </a:solidFill>
                <a:latin typeface="Times New Roman"/>
              </a:defRPr>
            </a:pPr>
            <a:r>
              <a:t>Figure 4.1: First-Order Boolean Masked AES-128 Iterative Datapath Architecture (Two-Share S' = P ⊕ M Pipeline)</a:t>
            </a:r>
          </a:p>
        </p:txBody>
      </p:sp>
      <p:pic>
        <p:nvPicPr>
          <p:cNvPr id="12" name="Picture 11" descr="fig_flow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590" y="3977639"/>
            <a:ext cx="10515600" cy="1691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7590" y="571500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2557"/>
                </a:solidFill>
                <a:latin typeface="Times New Roman"/>
              </a:defRPr>
            </a:pPr>
            <a:r>
              <a:t>Figure 4.2: Four-Stage EDA Engineering Design &amp; Verification Flowchart from Verilog Modeling to Timing Closure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" y="603504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6B7280"/>
                </a:solidFill>
                <a:latin typeface="Calibri"/>
              </a:defRPr>
            </a:pPr>
            <a:r>
              <a:t>Target Specifications: 128-bit Key &amp; Block | 10 Rounds | 11 Cycles | Target FPGA: AMD-Xilinx Artix-7 (xc7a35tcsg324-1) | EDA Tool: Vivado v2025.2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xref_6_149x1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690434" cy="685800"/>
          </a:xfrm>
          <a:prstGeom prst="rect">
            <a:avLst/>
          </a:prstGeom>
        </p:spPr>
      </p:pic>
      <p:pic>
        <p:nvPicPr>
          <p:cNvPr id="3" name="Picture 2" descr="img_xref_11_219x219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182880"/>
            <a:ext cx="685800" cy="685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88720" y="438912"/>
            <a:ext cx="3200400" cy="54864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34840" y="438912"/>
            <a:ext cx="347472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55279" y="438912"/>
            <a:ext cx="3017520" cy="54864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68680"/>
            <a:ext cx="11460175" cy="594360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5. WORK DONE TILL DATE AND RESULTS OBTAINED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Department of VLSI and Communication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9</a:t>
            </a:r>
          </a:p>
        </p:txBody>
      </p:sp>
      <p:pic>
        <p:nvPicPr>
          <p:cNvPr id="10" name="Picture 9" descr="fig_prog_snap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645920"/>
            <a:ext cx="5303520" cy="1920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3611880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F2557"/>
                </a:solidFill>
                <a:latin typeface="Times New Roman"/>
              </a:defRPr>
            </a:pPr>
            <a:r>
              <a:t>Figure 5.1: Synthesizable Verilog HDL Masked Datapath Structure (rtl/aes_128_masked_core.v)</a:t>
            </a:r>
          </a:p>
        </p:txBody>
      </p:sp>
      <p:pic>
        <p:nvPicPr>
          <p:cNvPr id="12" name="Picture 11" descr="fig_vivado_snapsh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931920"/>
            <a:ext cx="5303520" cy="1828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" y="5806440"/>
            <a:ext cx="5303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F2557"/>
                </a:solidFill>
                <a:latin typeface="Times New Roman"/>
              </a:defRPr>
            </a:pPr>
            <a:r>
              <a:t>Figure 5.2: AMD-Xilinx Vivado XSim Functional Verification Output (100% NIST Match)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126480" y="1645920"/>
          <a:ext cx="5532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97280"/>
                <a:gridCol w="1097280"/>
                <a:gridCol w="14173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Metric / Resource Category</a:t>
                      </a:r>
                    </a:p>
                  </a:txBody>
                  <a:tcPr>
                    <a:solidFill>
                      <a:srgbClr val="0F25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Baseline Core</a:t>
                      </a:r>
                    </a:p>
                  </a:txBody>
                  <a:tcPr>
                    <a:solidFill>
                      <a:srgbClr val="0F25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Masked Core</a:t>
                      </a:r>
                    </a:p>
                  </a:txBody>
                  <a:tcPr>
                    <a:solidFill>
                      <a:srgbClr val="0F25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Overhead / Status</a:t>
                      </a:r>
                    </a:p>
                  </a:txBody>
                  <a:tcPr>
                    <a:solidFill>
                      <a:srgbClr val="0F255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Slice LUTs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1,350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1,924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+42.5% (Util 9.25%)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Slice Registers (FF)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+33.3% (Util 1.26%)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Block RAM / DSP Slices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 /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 / 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0% (Logic Preserved)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Timing Slack (WNS / WHS)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+4.16ns / +0.16ns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+1.54ns / +0.16ns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Setup/Hold Clean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Maximum Frequency (Fmax)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171.30 MHz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118.20 MHz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&gt;100 MHz (1.37 Gbps)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26480" y="3611880"/>
            <a:ext cx="5532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F2557"/>
                </a:solidFill>
                <a:latin typeface="Times New Roman"/>
              </a:defRPr>
            </a:pPr>
            <a:r>
              <a:t>Table 5.1: Comparative Post-Synthesis Hardware Utilization and Static Timing on Artix-7</a:t>
            </a:r>
          </a:p>
        </p:txBody>
      </p:sp>
      <p:pic>
        <p:nvPicPr>
          <p:cNvPr id="16" name="Picture 15" descr="fig_waveform_tim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3931920"/>
            <a:ext cx="5532120" cy="18288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26480" y="5806440"/>
            <a:ext cx="5532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0F2557"/>
                </a:solidFill>
                <a:latin typeface="Times New Roman"/>
              </a:defRPr>
            </a:pPr>
            <a:r>
              <a:t>Figure 5.3: Post-Synthesis Timing Simulation Waveform (SDF Gate &amp; Routing Delay Back-Annotated)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08076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i="1">
                <a:solidFill>
                  <a:srgbClr val="6B7280"/>
                </a:solidFill>
                <a:latin typeface="Calibri"/>
              </a:defRPr>
            </a:pPr>
            <a:r>
              <a:t>Note: Design evaluated purely in EDA software (AMD-Xilinx Vivado v2025.2). Physical FPGA board testing planned for future revisions.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xref_6_149x1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690434" cy="685800"/>
          </a:xfrm>
          <a:prstGeom prst="rect">
            <a:avLst/>
          </a:prstGeom>
        </p:spPr>
      </p:pic>
      <p:pic>
        <p:nvPicPr>
          <p:cNvPr id="3" name="Picture 2" descr="img_xref_11_219x219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182880"/>
            <a:ext cx="685800" cy="685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88720" y="438912"/>
            <a:ext cx="3200400" cy="54864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34840" y="438912"/>
            <a:ext cx="347472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55279" y="438912"/>
            <a:ext cx="3017520" cy="54864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68680"/>
            <a:ext cx="11460175" cy="594360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6. PROJECT IMPLEMENTATION BUDGET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Department of VLSI and Communication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0F2557"/>
                </a:solidFill>
                <a:latin typeface="Times New Roman"/>
              </a:defRPr>
            </a:pPr>
            <a:r>
              <a:t>Note: Detailed cost breakdown of all aspects of project in tabular form, highlighting money spent till date vs. total proposed budget.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2057400"/>
          <a:ext cx="1109441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834640"/>
                <a:gridCol w="1645920"/>
                <a:gridCol w="2377440"/>
                <a:gridCol w="1828800"/>
                <a:gridCol w="1767535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S. No</a:t>
                      </a:r>
                    </a:p>
                  </a:txBody>
                  <a:tcPr>
                    <a:solidFill>
                      <a:srgbClr val="0F25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Item / Resource Description</a:t>
                      </a:r>
                    </a:p>
                  </a:txBody>
                  <a:tcPr>
                    <a:solidFill>
                      <a:srgbClr val="0F25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F25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Specification / Tool Details</a:t>
                      </a:r>
                    </a:p>
                  </a:txBody>
                  <a:tcPr>
                    <a:solidFill>
                      <a:srgbClr val="0F25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Cost Incurred (Spent)</a:t>
                      </a:r>
                    </a:p>
                  </a:txBody>
                  <a:tcPr>
                    <a:solidFill>
                      <a:srgbClr val="0F25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Proposed Budget</a:t>
                      </a:r>
                    </a:p>
                  </a:txBody>
                  <a:tcPr>
                    <a:solidFill>
                      <a:srgbClr val="0F255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AMD-Xilinx Vivado ML Suite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EDA Software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ML Standard Edition (v2025.2) Academic License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₹0.00 (Free Academic)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₹0.00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RTL Simulator &amp; Test Environment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EDA Software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Vivado XSim &amp; Python 3.x Verification Suite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₹0.00 (Built-in / Open)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₹0.00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Development Workstation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Hardware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Department Laboratory PC (Synthesis Compute)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₹0.00 (Lab Facility)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₹0.00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FPGA Development Board (Optional)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Hardware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AMD-Xilinx Artix-7 Evaluation Board (Basys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₹0.00 (Software Phase)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₹25,000.00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RF Measurement Probes &amp; Shunt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Hardware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Low-Noise SMA Coaxial &amp; Power Shunt Probe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₹0.00 (Software Phase)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₹3,500.00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30352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5803D"/>
                </a:solidFill>
                <a:latin typeface="Times New Roman"/>
              </a:rPr>
              <a:t>• Total Money Spent Till Date (Review-2): ₹0.00</a:t>
            </a:r>
            <a:r>
              <a:rPr sz="1150">
                <a:solidFill>
                  <a:srgbClr val="1F2937"/>
                </a:solidFill>
                <a:latin typeface="Calibri"/>
              </a:rPr>
              <a:t> — 100% of milestones completed via software-based EDA simulation &amp; synthesis.</a:t>
            </a:r>
          </a:p>
          <a:p>
            <a:r>
              <a:rPr sz="1300" b="1">
                <a:solidFill>
                  <a:srgbClr val="0F2557"/>
                </a:solidFill>
                <a:latin typeface="Times New Roman"/>
              </a:rPr>
              <a:t>• Total Proposed Budget (Future Revision): ₹28,500.00</a:t>
            </a:r>
            <a:r>
              <a:rPr sz="1150">
                <a:solidFill>
                  <a:srgbClr val="1F2937"/>
                </a:solidFill>
                <a:latin typeface="Calibri"/>
              </a:rPr>
              <a:t> — Estimated for physical FPGA development board &amp; laboratory RF measurement setup.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xref_6_149x1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690434" cy="685800"/>
          </a:xfrm>
          <a:prstGeom prst="rect">
            <a:avLst/>
          </a:prstGeom>
        </p:spPr>
      </p:pic>
      <p:pic>
        <p:nvPicPr>
          <p:cNvPr id="3" name="Picture 2" descr="img_xref_11_219x219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182880"/>
            <a:ext cx="685800" cy="685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88720" y="438912"/>
            <a:ext cx="3200400" cy="54864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34840" y="438912"/>
            <a:ext cx="347472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55279" y="438912"/>
            <a:ext cx="3017520" cy="54864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68680"/>
            <a:ext cx="11460175" cy="594360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7. NEXT MONTH PLAN OF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Department of VLSI and Communication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11094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0F2557"/>
                </a:solidFill>
                <a:latin typeface="Times New Roman"/>
              </a:rPr>
              <a:t>• Phase 1: Autonomous On-Chip PRNG Integration (Weeks 1–2):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– Integrate a dedicated 128-bit hardware Pseudo-Random Number Generator (LFSR / Xorshift128+) directly into the cryptographic datapath.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– Generate and refresh independent random masks internally on-chip cycle-by-cycle, eliminating external testbench feed dependencies.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0F2557"/>
                </a:solidFill>
                <a:latin typeface="Times New Roman"/>
              </a:rPr>
              <a:t>• Phase 2: Glitch-Resistant Composite-Field Canright S-Box (Weeks 3–4):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– Replace memory-based S-box lookup tables with Canright composite-field GF(((2^2)^2)^2) algebraic inversion logic.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– Suppress dynamic CMOS combinatorial glitches and signal delay skews that cause transient first-order side-channel leakage.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0F2557"/>
                </a:solidFill>
                <a:latin typeface="Times New Roman"/>
              </a:rPr>
              <a:t>• Phase 3: Switching Activity Simulation &amp; TVLA Assessment (Weeks 5–6):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– Extract cycle-accurate switching activity files (.vcd / .saif) from Vivado post-implementation timing simulations.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– Implement Welch's t-test (Test Vector Leakage Assessment) to statistically confirm leakage suppression below the standard threshold (|t| &lt; 4.5).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0F2557"/>
                </a:solidFill>
                <a:latin typeface="Times New Roman"/>
              </a:rPr>
              <a:t>• Phase 4: FPGA Prototyping &amp; Final Defense Preparation (Weeks 7–8):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– Design an on-chip UART/AXI interface to bridge host data once a physical FPGA board is procured in future revisions.</a:t>
            </a:r>
          </a:p>
          <a:p>
            <a:pPr>
              <a:spcAft>
                <a:spcPts val="10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– Consolidate synthesis benchmarks, compile the final B.Tech project dissertation, and prepare the project defense presentation.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xref_6_149x1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690434" cy="685800"/>
          </a:xfrm>
          <a:prstGeom prst="rect">
            <a:avLst/>
          </a:prstGeom>
        </p:spPr>
      </p:pic>
      <p:pic>
        <p:nvPicPr>
          <p:cNvPr id="3" name="Picture 2" descr="img_xref_11_219x219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182880"/>
            <a:ext cx="685800" cy="685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88720" y="438912"/>
            <a:ext cx="3200400" cy="54864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34840" y="438912"/>
            <a:ext cx="347472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55279" y="438912"/>
            <a:ext cx="3017520" cy="54864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868680"/>
            <a:ext cx="11460175" cy="594360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defRPr sz="2000" b="1">
                <a:solidFill>
                  <a:srgbClr val="FFFFFF"/>
                </a:solidFill>
                <a:latin typeface="Times New Roman"/>
              </a:defRPr>
            </a:pPr>
            <a:r>
              <a:t>8.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Department of VLSI and Communication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11094415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Times New Roman"/>
              </a:rPr>
              <a:t>[1] R. Kumar, V. B. Suresh, S. Taneja, M. A. Anders, S. Hsu, A. Agarwal, V. De, and S. K. Mathew, "A 7-Gbps SCA-Resistant Multiplicative-Masked AES Engine in Intel 4 CMOS," IEEE Journal of Solid-State Circuits, vol. 58, no. 4, pp. 1106–1116, Apr. 2023. [BASE PAPER]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Times New Roman"/>
              </a:rPr>
              <a:t>[2] National Institute of Standards and Technology (NIST), "Advanced Encryption Standard (AES)," Federal Information Processing Standards Publication FIPS PUB 197, Nov. 2001 (Updated 2023).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Times New Roman"/>
              </a:rPr>
              <a:t>[3] P. Kocher, J. Jaffe, and B. Jun, "Differential Power Analysis," in Advances in Cryptology — CRYPTO ’99, Lecture Notes in Computer Science, vol. 1666, Springer, Berlin, Heidelberg, pp. 388–397, 1999.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Times New Roman"/>
              </a:rPr>
              <a:t>[4] S. Chari, C. S. Jutla, J. R. Rao, and P. Rohatgi, "Towards Sound Approaches to Counteract Power-Analysis Attacks," in Advances in Cryptology — CRYPTO ’99, LNCS, vol. 1666, Springer, pp. 398–412, 1999.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Times New Roman"/>
              </a:rPr>
              <a:t>[5] D. Canright and L. Batina, "A Very Compact Perfectly Masked S-Box for AES," in Applied Cryptography and Network Security (ACNS 2008), LNCS, vol. 5037, Springer, pp. 446–459, 2008.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Times New Roman"/>
              </a:rPr>
              <a:t>[6] F. Regazzoni, Y. Wang, and F.-X. Standaert, "FPGA Implementations of Masked AES: A Comparative Evaluation," in CARDIS, Springer LNCS, vol. 7079, pp. 248–264, 2011.</a:t>
            </a:r>
          </a:p>
          <a:p>
            <a:pPr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Times New Roman"/>
              </a:rPr>
              <a:t>[7] G. T. Becker, J. Cooper, E. DeMulder, G. Goodwill, J. Jaffe, et al., "Test Vector Leakage Assessment (TVLA) Methodology in Practice," in Proc. International Cryptographic Module Conference (ICMC), pp. 1–15, 2013.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g_xref_6_149x14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"/>
            <a:ext cx="690434" cy="685800"/>
          </a:xfrm>
          <a:prstGeom prst="rect">
            <a:avLst/>
          </a:prstGeom>
        </p:spPr>
      </p:pic>
      <p:pic>
        <p:nvPicPr>
          <p:cNvPr id="3" name="Picture 2" descr="img_xref_11_219x219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182880"/>
            <a:ext cx="685800" cy="685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188720" y="438912"/>
            <a:ext cx="3200400" cy="54864"/>
          </a:xfrm>
          <a:prstGeom prst="rect">
            <a:avLst/>
          </a:prstGeom>
          <a:solidFill>
            <a:srgbClr val="0F25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34840" y="438912"/>
            <a:ext cx="347472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55279" y="438912"/>
            <a:ext cx="3017520" cy="54864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Department of VLSI and Communication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Times New Roman"/>
              </a:defRPr>
            </a:pPr>
            <a: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10362895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F2557"/>
                </a:solidFill>
                <a:latin typeface="Times New Roman"/>
              </a:defRPr>
            </a:pPr>
            <a:r>
              <a:t>THANK YOU!</a:t>
            </a:r>
          </a:p>
          <a:p>
            <a:br/>
            <a:pPr algn="ctr">
              <a:defRPr sz="2200" b="1">
                <a:solidFill>
                  <a:srgbClr val="1D4ED8"/>
                </a:solidFill>
                <a:latin typeface="Times New Roman"/>
              </a:defRPr>
            </a:pPr>
            <a:r>
              <a:t>Questions &amp; Answers</a:t>
            </a:r>
          </a:p>
          <a:p>
            <a:pPr algn="ctr">
              <a:defRPr sz="1600" i="1">
                <a:solidFill>
                  <a:srgbClr val="6B7280"/>
                </a:solidFill>
                <a:latin typeface="Calibri"/>
              </a:defRPr>
            </a:pPr>
            <a:r>
              <a:t>Open for Discussion, Suggestions &amp; Feedback</a:t>
            </a:r>
          </a:p>
          <a:p>
            <a:br/>
            <a:pPr algn="ctr">
              <a:defRPr sz="1300" b="1">
                <a:solidFill>
                  <a:srgbClr val="0F2557"/>
                </a:solidFill>
                <a:latin typeface="Times New Roman"/>
              </a:defRPr>
            </a:pPr>
            <a:r>
              <a:t>Department of VLSI and Communication Technology</a:t>
            </a:r>
            <a:br/>
            <a:r>
              <a:t>Galgotias College of Engineering and Technology, Gr. Noida(U.P.)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