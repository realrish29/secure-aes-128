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782492" cy="77724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274320"/>
            <a:ext cx="9235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i="1" b="1">
                <a:solidFill>
                  <a:srgbClr val="0F2557"/>
                </a:solidFill>
                <a:latin typeface="Segoe UI"/>
              </a:defRPr>
            </a:pPr>
            <a:r>
              <a:t>Project Work Progress Presentation -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2557"/>
                </a:solidFill>
                <a:latin typeface="Times New Roman"/>
              </a:defRPr>
            </a:pPr>
            <a:r>
              <a:t>SECURE AES-128 IMPLEMENTATION WITH</a:t>
            </a:r>
          </a:p>
          <a:p>
            <a:pPr algn="ctr">
              <a:defRPr sz="2800" b="1">
                <a:solidFill>
                  <a:srgbClr val="0F2557"/>
                </a:solidFill>
                <a:latin typeface="Times New Roman"/>
              </a:defRPr>
            </a:pPr>
            <a:r>
              <a:t>SIDE-CHANNEL ATTACK RESISTANCE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834640"/>
            <a:ext cx="11460175" cy="36576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Branch: EL-VLSI (Electronics Engineering - VLSI Design and Technology)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Group No.: V-1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  <a:latin typeface="Segoe UI"/>
              </a:defRPr>
            </a:pPr>
            <a:r>
              <a:t>Under the Mentorship of: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Dr. Parveen Kumar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Assistant Professor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749039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  <a:latin typeface="Segoe UI"/>
              </a:defRPr>
            </a:pPr>
            <a:r>
              <a:t>Presented By: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Ish Bhati (Roll No. 2300971730019)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Ishita Chaudhary (Roll No. 2300971730020)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Rishabh Verma (Roll No. 2300971730029)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Department of VLSI and Communication Technology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Galgotias College of Engineering and Technology, Gr. Noida(U.P.)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557"/>
                </a:solidFill>
                <a:latin typeface="Segoe UI"/>
              </a:defRPr>
            </a:pPr>
            <a:r>
              <a:t>TITLE: Secure AES-128 Implementation with Side-Channel Attack Resistance</a:t>
            </a:r>
          </a:p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SDG GOALS (2-3 only):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0F2557"/>
                </a:solidFill>
                <a:latin typeface="Segoe UI"/>
              </a:defRPr>
            </a:pPr>
            <a:r>
              <a:t>• SDG 9: Industry, Innovation &amp; Infrastructure (Target 9.5 &amp; 9.c)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Fosters technological innovation and builds resilient digital infrastructure. Securing cryptographic hardware against side-channel power attacks protects smart grids, critical cyber-physical systems, and connected IoT infrastructure from physical eavesdropping and key extraction.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09441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0F2557"/>
                </a:solidFill>
                <a:latin typeface="Segoe UI"/>
              </a:defRPr>
            </a:pPr>
            <a:r>
              <a:t>• SDG 16: Peace, Justice &amp; Strong Institutions (Target 16.10)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Safeguards data privacy, institutional cybersecurity, and public trust. Prevents physical secret-key extraction from embedded cryptographic modules, securing sensitive governmental, financial, and industrial communication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109441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0F2557"/>
                </a:solidFill>
                <a:latin typeface="Segoe UI"/>
              </a:defRPr>
            </a:pPr>
            <a:r>
              <a:t>• SDG 12: Responsible Consumption &amp; Production (Target 12.2 &amp; 12.a)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Promotes silicon resource efficiency by optimizing the trade-off between side-channel security countermeasures and hardware overhead (minimizing LUT/FF area inflation and power dissipation).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557"/>
                </a:solidFill>
                <a:latin typeface="Segoe UI"/>
              </a:defRPr>
            </a:pPr>
            <a:r>
              <a:t>TITLE: Secure AES-128 Implementation with Side-Channel Attack Resistance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0160"/>
            <a:ext cx="539496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PROGRAM OUTCOMES (POs) MAPPED (2-3 only):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PO1 (Engineering Knowledge):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Applied Galois Field GF(2^8) composite field arithmetic, symmetric cryptography, and digital VLSI design principles to architect the 128-bit AES core.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PO3 (Design/Development):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Engineered a first-order Boolean masked datapath (X' = X ⊕ M) with a glitch-resistant composite-field S-box and dynamic PRNG mask refresh balancing security and area overhead.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PO5 (Modern Tool Usage):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Employed industry-standard EDA tools (AMD-Xilinx Vivado ML v2025.2, Verilog HDL) for RTL modeling, simulation, and logic synthesis.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PROGRAM SPECIFIC OUTCOMES (PSOs) MAPPED: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PSO1 (VLSI System Design):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Demonstrated the capability to architect, model, and simulate secure hardware cryptographic subsystems using synthesizable Verilog HDL descriptions across modular datapath pipelines.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PSO2 (EDA Tools &amp; Verification):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Achieved proficiency in industry-grade FPGA synthesis, Static Timing Analysis (STA), clock constraint modeling, and hardware resource benchmarking targeting commercial AMD-Xilinx 7-series silicon.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53949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1. Introduction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Cryptographic background, side-channel power leakage &amp; Boolean masking countermeasure.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949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2. Objectives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Core measurable milestones spanning RTL modeling, Vivado synthesis &amp; TVLA assessment.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3949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3. Proposed Improvement Over Existing Works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Systematic comparative benchmark against IEEE JSSC Base Paper (Kumar et al. 2023).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53949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4. Methodology / Flowchart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Two-share masked datapath architecture &amp; 4-stage EDA engineering design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3949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5. Work Done till Date and Results Obtained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NIST FIPS 197 verification, Vivado Artix-7 synthesis tables &amp; verified simulation waveforms.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3949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6. Project Implementation Budget Analysis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Cost breakdown table of academic EDA software vs. proposed physical prototyping.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3949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7. Next Month Plan of Work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Action plan detailing on-chip PRNG integration, Canright S-Box &amp; TVLA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120640"/>
            <a:ext cx="53949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8. References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Formal IEEE bibliographical citations backing the theoretical &amp; experimental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0F2557"/>
                </a:solidFill>
                <a:latin typeface="Segoe UI"/>
              </a:defRPr>
            </a:pPr>
            <a:r>
              <a:t>• Cryptographic Foundation (NIST FIPS 197):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   – Advanced Encryption Standard (AES-128): is the standardized symmetric block cipher safeguarding critical communications in IoT, smart grids, defense systems, and cloud infrastructure.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   – Iterative 10-Round Structure: transforms 128-bit plaintext blocks via SubBytes (non-linear S-box), ShiftRows (byte permutations), MixColumns (Galois matrix multiply), and AddRoundKey.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094415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0F2557"/>
                </a:solidFill>
                <a:latin typeface="Segoe UI"/>
              </a:defRPr>
            </a:pPr>
            <a:r>
              <a:t>• Physical Hardware Vulnerability (Side-Channel Power Leakage):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   – CMOS Switching Power Consumption: varies dynamically based on processed data: P_dyn = α · C_L · V_dd² · f. Attackers monitor supply current or EM emissions.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   – DPA &amp; CPA Attacks: exploit statistical correlation between physical power traces and intermediate Hamming Weight / Distance to extract master secret keys non-invasively within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1094415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0F2557"/>
                </a:solidFill>
                <a:latin typeface="Segoe UI"/>
              </a:defRPr>
            </a:pPr>
            <a:r>
              <a:t>• Hardware Countermeasure (First-Order Boolean Masking):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   – Two-Share Secret Sharing: decorrelates power consumption from secret data by splitting sensitive states: X' = X ⊕ M, where M is a uniformly random mask.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   – Datapath Synchronization: Linear layers (ShiftRows/MixColumns) process both shares in parallel; non-linear S-box requires dynamic mask refresh to eliminate first-order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2.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Synthesizable Baseline AES-128 RTL Datapath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Architect an iterative 128-bit AES encryption core in synthesizable Verilog HDL completing 10 rounds in 11 clock cycles. Verify 100% bit-accurate compliance against NIST FIPS 197 reference test vectors.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2. First-Order Boolean Masked Datapath Implementation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Implement a dual-share masking architecture (X' = X ⊕ M) across the datapath to break statistical correlation between internal switching power and intermediate cryptographic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Glitch-Resistant Masked S-Box &amp; Dynamic Refresh Mechanism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Design a protected non-linear SubBytes transformation with dynamic PRNG mask-refreshing logic to counteract glitch-induced transient leakage and CMOS combinatorial hazards.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4. AMD-Xilinx Vivado Synthesis &amp; Timing Closure Benchmarking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Synthesize both cores targeting the Artix-7 (xc7a35tcsg324-1) FPGA @ 100 MHz constraint in Vivado v2025.2. Extract exact Slice LUTs, Registers, Slack (WNS/WHS), and maximum frequency (Fmax).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035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5. Multi-Mode Verification &amp; TVLA Security Framework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Execute behavioral, post-synthesis functional, and post-synthesis timing simulations. Lay the groundwork for statistical Welch's t-test / TVLA validation to guarantee leakage suppression (|t| &lt; 4.5).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3. PROPOSED IMPROVEMENT OVER EXISTING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645920"/>
          <a:ext cx="114601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2103120"/>
                <a:gridCol w="2103120"/>
                <a:gridCol w="2377440"/>
                <a:gridCol w="2316175"/>
              </a:tblGrid>
              <a:tr h="149352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S.</a:t>
                      </a:r>
                      <a:br/>
                      <a:r>
                        <a:t>No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 Paper(s)</a:t>
                      </a:r>
                      <a:br/>
                      <a:r>
                        <a:t>Publication Details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 Paper(s)</a:t>
                      </a:r>
                      <a:br/>
                      <a:r>
                        <a:t>Major Findings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 Paper(s)</a:t>
                      </a:r>
                      <a:br/>
                      <a:r>
                        <a:t>Limitations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Proposed Improvement</a:t>
                      </a:r>
                      <a:br/>
                      <a:r>
                        <a:t>over Existing Works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Expected Benefits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</a:tr>
              <a:tr h="14935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R. Kumar, V. B. Suresh, S. Taneja, et al. (2023)</a:t>
                      </a:r>
                      <a:br/>
                      <a:r>
                        <a:t>IEEE Journal of Solid-State Circuits (JSSC)</a:t>
                      </a:r>
                      <a:br/>
                      <a:r>
                        <a:t>'A 7-Gbps SCA-Resistant Multiplicative-Masked AES Engine in Intel 4 CMOS' [BASE PAPER]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Multiplicative-masked AES engine in Intel 4 FinFET CMOS.</a:t>
                      </a:r>
                      <a:br/>
                      <a:r>
                        <a:t>• Dual-rail zero-value detection (ZVD) logic.</a:t>
                      </a:r>
                      <a:br/>
                      <a:r>
                        <a:t>• Achieved &gt;34,000× MTD improvement against CPA/TVLA.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Fabricated on Intel 4 custom silicon.</a:t>
                      </a:r>
                      <a:br/>
                      <a:r>
                        <a:t>• Requires specialized dual-rail custom transistor cells not synthesizable in academic FPGA RTL flows.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Implemented a technology-independent synthesizable 1st-order Boolean masked architecture (X' = X ⊕ M) in Verilog HDL.</a:t>
                      </a:r>
                      <a:br/>
                      <a:r>
                        <a:t>• Mapped to standard FPGA Look-Up Tables (LUTs).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100% portable across standard commercial FPGAs (Artix-7).</a:t>
                      </a:r>
                      <a:br/>
                      <a:r>
                        <a:t>• Clean 100 MHz static timing closure (+1.54 ns slack), zero BRAM/DSP usage, and only 42.5% LUT overhead.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49352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D. Canright &amp; L. Batina (2008) / F. Regazzoni et al. (2011)</a:t>
                      </a:r>
                      <a:br/>
                      <a:r>
                        <a:t>CARDIS / ACNS (Springer LNCS)</a:t>
                      </a:r>
                      <a:br/>
                      <a:r>
                        <a:t>'FPGA Implementations of Masked AES: A Comparative Evaluation'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Evaluated composite-field masked S-boxes on FPGA.</a:t>
                      </a:r>
                      <a:br/>
                      <a:r>
                        <a:t>• Highlighted trade-offs between slice utilization (LUTs/FFs), throughput, and SCA resistance.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Unpipelined combinatorial inversion structures exhibit dynamic glitches and routing imbalances, causing transient 1st-order leakage.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Iterative 10-round architecture with registered stage boundaries and synchronized two-share linear transformations.</a:t>
                      </a:r>
                      <a:br/>
                      <a:r>
                        <a:t>• Recombination isolated to final output register.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Suppresses inter-round glitch propagation.</a:t>
                      </a:r>
                      <a:br/>
                      <a:r>
                        <a:t>• Stable 11-cycle execution latency with line-rate throughput (1.37 Gbps @ 118 MHz) and verifiable algorithmic security.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4. METHODOLOGY/ FLOW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8</a:t>
            </a:r>
          </a:p>
        </p:txBody>
      </p:sp>
      <p:pic>
        <p:nvPicPr>
          <p:cNvPr id="10" name="Picture 9" descr="fig_arch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45920"/>
            <a:ext cx="11094415" cy="29585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5661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2557"/>
                </a:solidFill>
                <a:latin typeface="Segoe UI"/>
              </a:defRPr>
            </a:pPr>
            <a:r>
              <a:t>Figure 4.1: First-Order Boolean Masked AES-128 Iterative Datapath Architecture (Two-Share S' = P ⊕ M Pipeline)</a:t>
            </a:r>
          </a:p>
        </p:txBody>
      </p:sp>
      <p:pic>
        <p:nvPicPr>
          <p:cNvPr id="12" name="Picture 11" descr="fig_flow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77639"/>
            <a:ext cx="11094415" cy="27736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2557"/>
                </a:solidFill>
                <a:latin typeface="Segoe UI"/>
              </a:defRPr>
            </a:pPr>
            <a:r>
              <a:t>Figure 4.2: Four-Stage EDA Engineering Design &amp; Verification Flowchart from Verilog Modeling to Timing Closure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5. WORK DONE TILL DATE AND RESULTS OBTAINED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9</a:t>
            </a:r>
          </a:p>
        </p:txBody>
      </p:sp>
      <p:pic>
        <p:nvPicPr>
          <p:cNvPr id="10" name="Picture 9" descr="fig_prog_snap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539496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7033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2557"/>
                </a:solidFill>
                <a:latin typeface="Segoe UI"/>
              </a:defRPr>
            </a:pPr>
            <a:r>
              <a:t>Figure 5.1: Synthesizable Verilog HDL Module Architecture (rtl/aes_128_masked_core.v)</a:t>
            </a:r>
          </a:p>
        </p:txBody>
      </p:sp>
      <p:pic>
        <p:nvPicPr>
          <p:cNvPr id="12" name="Picture 11" descr="fig_vivado_snap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645920"/>
            <a:ext cx="5577840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370332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2557"/>
                </a:solidFill>
                <a:latin typeface="Segoe UI"/>
              </a:defRPr>
            </a:pPr>
            <a:r>
              <a:t>Figure 5.2: AMD-Xilinx Vivado ML v2025.2 XSim Output: 100% NIST FIPS 197 Pass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06908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28016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 / Resource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Masked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Overhead / Status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Slice LUTs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1,350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1,924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+42.5% (Util 9.25%)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Slice Registers (FF)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+33.3% (Util 1.26%)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Block RAM / DSP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 /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 /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0% (100% Logic)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Timing Slack (WNS/WHS)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+4.16ns / +0.16ns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+1.54ns / +0.16ns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PASSED (Clean)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Max Frequency (Fmax)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171.3 MHz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118.2 MHz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&gt;100 MHz (1.37 Gbps)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0807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2557"/>
                </a:solidFill>
                <a:latin typeface="Segoe UI"/>
              </a:defRPr>
            </a:pPr>
            <a:r>
              <a:t>Table 5.1: Comparative Post-Synthesis Hardware Utilization on AMD-Xilinx Artix-7</a:t>
            </a:r>
          </a:p>
        </p:txBody>
      </p:sp>
      <p:pic>
        <p:nvPicPr>
          <p:cNvPr id="16" name="Picture 15" descr="fig_waveform_tim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069080"/>
            <a:ext cx="5577840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26480" y="608076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2557"/>
                </a:solidFill>
                <a:latin typeface="Segoe UI"/>
              </a:defRPr>
            </a:pPr>
            <a:r>
              <a:t>Figure 5.3: Verified Post-Synthesis Timing Simulation Waveform (SDF Back-Annotated)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6. PROJECT IMPLEMENTATION BUDGET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1094415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0F2557"/>
                </a:solidFill>
                <a:latin typeface="Segoe UI"/>
              </a:defRPr>
            </a:pPr>
            <a:r>
              <a:t>Note: Detailed cost breakdown of all aspects of project in tabular form, highlighting money spent till date vs. total proposed budget.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37744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1645920"/>
                <a:gridCol w="2468880"/>
                <a:gridCol w="1828800"/>
                <a:gridCol w="1858975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S. No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Item / Resource Description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Specification / Tool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Cost Incurred (Spent)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Proposed Budget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AMD-Xilinx Vivado ML 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EDA Software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ML Standard Edition v2025.2 (Free Academic)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RTL Simulator &amp; 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EDA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Vivado XSim &amp; Python 3.x Verification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Development Workstation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Department Laboratory PC (Synthesis Compute)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FPGA Development Board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AMD-Xilinx Artix-7 Evaluation Board (Basys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₹25,000.00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RF Measurement Probes &amp; Shunt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Low-Noise SMA Coaxial &amp; Power Shunt Probe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₹3,500.00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486400"/>
            <a:ext cx="5394960" cy="777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66534"/>
                </a:solidFill>
                <a:latin typeface="Segoe UI"/>
              </a:defRPr>
            </a:pPr>
            <a:r>
              <a:t>TOTAL MONEY SPENT TILL REVIEW-2: ₹0.00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100% of milestones completed via software-based EDA simulation &amp; synthesis.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486400"/>
            <a:ext cx="539496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B45309"/>
                </a:solidFill>
                <a:latin typeface="Segoe UI"/>
              </a:defRPr>
            </a:pPr>
            <a:r>
              <a:t>TOTAL PROPOSED BUDGET (FUTURE REVISION): ₹28,500.00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Estimated for physical board procurement &amp; laboratory RF measurement setup.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7. NEXT MONTH PLAN OF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Task 1: Autonomous On-Chip PRNG Integration (Weeks 1–2)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Integrate an on-chip 128-bit hardware Pseudo-Random Number Generator (LFSR or Xorshift128+) into the AES datapath to generate and refresh independent random masks cycle-by-cycle without external testbench feed dependencies.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Task 2: Glitch-Resistant Composite-Field Canright S-Box (Weeks 3–4)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Replace memory-based S-boxes with Canright composite-field GF((2^4)^2) arithmetic to suppress dynamic CMOS glitch-induced transient power leakage during Galois field non-linear inversions.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Task 3: Power-Trace Simulation &amp; Welch's t-test / TVLA (Weeks 5–6)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Extract cycle-accurate switching activity files (.vcd / .saif) from Vivado post-implementation timing simulations and compute Welch's t-test (Test Vector Leakage Assessment) statistics to verify |t| &lt; 4.5.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Task 4: Physical FPGA Hardware Prototyping (Weeks 7–8)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Once a physical FPGA development board is procured in future revisions, integrate an on-chip communication interface (UART/AXI) to bridge host data and program the bitstream for laboratory board-level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03520"/>
            <a:ext cx="1109441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Task 5: Final Dissertation, Documentation &amp; Defense Preparation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Consolidate experimental synthesis benchmarks, complete the final B.Tech project dissertation, and prepare the project viva presentation and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60175" cy="6217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8.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1109441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[1] R. Kumar, V. B. Suresh, S. Taneja, M. A. Anders, S. Hsu, A. Agarwal, V. De, and S. K. Mathew, "A 7-Gbps SCA-Resistant Multiplicative-Masked AES Engine in Intel 4 CMOS," IEEE Journal of Solid-State Circuits, vol. 58, no. 4, pp. 1106–1116, Apr. 2023. [BASE PAPER]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[2] National Institute of Standards and Technology (NIST), "Advanced Encryption Standard (AES)," Federal Information Processing Standards Publication FIPS PUB 197, Nov. 2001 (Updated 2023).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[3] P. Kocher, J. Jaffe, and B. Jun, "Differential Power Analysis," in Advances in Cryptology — CRYPTO ’99, LNCS, vol. 1666, Springer, 1999, pp. 388–397.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[4] S. Chari, C. S. Jutla, J. R. Rao, and P. Rohatgi, "Towards Sound Approaches to Counteract Power-Analysis Attacks," in Advances in Cryptology — CRYPTO ’99, LNCS, vol. 1666, Springer, 1999, pp. 398–412.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[5] D. Canright and L. Batina, "A Very Compact Perfectly Masked S-Box for AES," in Applied Cryptography and Network Security (ACNS 2008), LNCS, vol. 5037, Springer, 2008, pp. 446–459.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[6] F. Regazzoni, Y. Wang, and F.-X. Standaert, "FPGA Implementations of Masked AES: A Comparative Evaluation," in CARDIS, Springer LNCS, 2011.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[7] G. T. Becker, J. Cooper, E. DeMulder, G. Goodwill, J. Jaffe, et al., "Test Vector Leakage Assessment (TVLA) Methodology in Practice," in Proc. International Cryptographic Module Conference (ICMC), 2013.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xref_6_149x1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690434" cy="685800"/>
          </a:xfrm>
          <a:prstGeom prst="rect">
            <a:avLst/>
          </a:prstGeom>
        </p:spPr>
      </p:pic>
      <p:pic>
        <p:nvPicPr>
          <p:cNvPr id="3" name="Picture 2" descr="img_xref_11_219x2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438912"/>
            <a:ext cx="3200400" cy="54864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438912"/>
            <a:ext cx="347472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8912"/>
            <a:ext cx="301752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VLSI and Communication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2557"/>
                </a:solidFill>
                <a:latin typeface="Segoe UI"/>
              </a:defRPr>
            </a:pPr>
            <a:r>
              <a:t>THANK YOU!</a:t>
            </a:r>
          </a:p>
          <a:p>
            <a:br/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Questions &amp; Answers</a:t>
            </a:r>
          </a:p>
          <a:p>
            <a:pPr algn="ctr">
              <a:defRPr sz="1600" i="1">
                <a:solidFill>
                  <a:srgbClr val="64748B"/>
                </a:solidFill>
                <a:latin typeface="Segoe UI"/>
              </a:defRPr>
            </a:pPr>
            <a:r>
              <a:t>Open for Discussion, Suggestions &amp; Feedback</a:t>
            </a:r>
          </a:p>
          <a:p>
            <a:br/>
            <a:pPr algn="ctr">
              <a:defRPr sz="1300" b="1">
                <a:solidFill>
                  <a:srgbClr val="0F2557"/>
                </a:solidFill>
                <a:latin typeface="Segoe UI"/>
              </a:defRPr>
            </a:pPr>
            <a:r>
              <a:t>Department of VLSI and Communication Technology</a:t>
            </a:r>
            <a:br/>
            <a:r>
              <a:t>Galgotias College of Engineering and Technology, Greater Noida (U.P.)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